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embeddedFontLst>
    <p:embeddedFont>
      <p:font typeface="Open Sans" panose="020B0604020202020204" charset="0"/>
      <p:regular r:id="rId4"/>
      <p:bold r:id="rId5"/>
      <p:italic r:id="rId6"/>
      <p:boldItalic r:id="rId7"/>
    </p:embeddedFont>
    <p:embeddedFont>
      <p:font typeface="Open Sans SemiBold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gnmSRlW76LJ/hBjh12N+eu5XtB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32" Type="http://customschemas.google.com/relationships/presentationmetadata" Target="metadata"/><Relationship Id="rId5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TITLE_AND_BODY_1_1">
    <p:bg>
      <p:bgPr>
        <a:solidFill>
          <a:schemeClr val="accent4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/>
          <p:nvPr/>
        </p:nvSpPr>
        <p:spPr>
          <a:xfrm>
            <a:off x="402700" y="1610599"/>
            <a:ext cx="11417700" cy="527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96625" y="1638800"/>
            <a:ext cx="8685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500"/>
              <a:buFont typeface="Open Sans SemiBold"/>
              <a:buNone/>
              <a:defRPr sz="55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500"/>
              <a:buFont typeface="Open Sans SemiBold"/>
              <a:buNone/>
              <a:defRPr sz="55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500"/>
              <a:buFont typeface="Open Sans SemiBold"/>
              <a:buNone/>
              <a:defRPr sz="55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500"/>
              <a:buFont typeface="Open Sans SemiBold"/>
              <a:buNone/>
              <a:defRPr sz="55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500"/>
              <a:buFont typeface="Open Sans SemiBold"/>
              <a:buNone/>
              <a:defRPr sz="55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500"/>
              <a:buFont typeface="Open Sans SemiBold"/>
              <a:buNone/>
              <a:defRPr sz="55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500"/>
              <a:buFont typeface="Open Sans SemiBold"/>
              <a:buNone/>
              <a:defRPr sz="55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5500"/>
              <a:buFont typeface="Open Sans SemiBold"/>
              <a:buNone/>
              <a:defRPr sz="55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title" idx="2"/>
          </p:nvPr>
        </p:nvSpPr>
        <p:spPr>
          <a:xfrm>
            <a:off x="1505025" y="1638800"/>
            <a:ext cx="33927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grpSp>
        <p:nvGrpSpPr>
          <p:cNvPr id="43" name="Google Shape;43;p22"/>
          <p:cNvGrpSpPr/>
          <p:nvPr/>
        </p:nvGrpSpPr>
        <p:grpSpPr>
          <a:xfrm>
            <a:off x="-9525" y="6217625"/>
            <a:ext cx="12242400" cy="657300"/>
            <a:chOff x="-9525" y="6217625"/>
            <a:chExt cx="12242400" cy="657300"/>
          </a:xfrm>
        </p:grpSpPr>
        <p:sp>
          <p:nvSpPr>
            <p:cNvPr id="44" name="Google Shape;44;p22"/>
            <p:cNvSpPr/>
            <p:nvPr/>
          </p:nvSpPr>
          <p:spPr>
            <a:xfrm>
              <a:off x="0" y="6217625"/>
              <a:ext cx="12192000" cy="657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5" name="Google Shape;45;p22" title="AA-logo-white-orange-arrow.png"/>
            <p:cNvPicPr preferRelativeResize="0"/>
            <p:nvPr/>
          </p:nvPicPr>
          <p:blipFill rotWithShape="1">
            <a:blip r:embed="rId2">
              <a:alphaModFix/>
            </a:blip>
            <a:srcRect r="10"/>
            <a:stretch/>
          </p:blipFill>
          <p:spPr>
            <a:xfrm>
              <a:off x="309800" y="6383000"/>
              <a:ext cx="2220401" cy="326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" name="Google Shape;46;p22"/>
            <p:cNvCxnSpPr/>
            <p:nvPr/>
          </p:nvCxnSpPr>
          <p:spPr>
            <a:xfrm>
              <a:off x="-9525" y="6217625"/>
              <a:ext cx="1224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47" name="Google Shape;47;p22" title="Funded-by-Wellcome-Logo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20400" y="6328364"/>
              <a:ext cx="1179126" cy="435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" name="Google Shape;48;p22"/>
          <p:cNvSpPr txBox="1">
            <a:spLocks noGrp="1"/>
          </p:cNvSpPr>
          <p:nvPr>
            <p:ph type="title" idx="3"/>
          </p:nvPr>
        </p:nvSpPr>
        <p:spPr>
          <a:xfrm>
            <a:off x="5082525" y="1638800"/>
            <a:ext cx="27258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title" idx="4"/>
          </p:nvPr>
        </p:nvSpPr>
        <p:spPr>
          <a:xfrm>
            <a:off x="7892100" y="1638800"/>
            <a:ext cx="20064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title" idx="5"/>
          </p:nvPr>
        </p:nvSpPr>
        <p:spPr>
          <a:xfrm>
            <a:off x="9982275" y="1638800"/>
            <a:ext cx="16923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2000"/>
              <a:buFont typeface="Open Sans SemiBold"/>
              <a:buNone/>
              <a:defRPr sz="20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title" idx="6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body" idx="1"/>
          </p:nvPr>
        </p:nvSpPr>
        <p:spPr>
          <a:xfrm>
            <a:off x="415600" y="1627632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2"/>
          </p:nvPr>
        </p:nvSpPr>
        <p:spPr>
          <a:xfrm>
            <a:off x="6443200" y="1627632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700"/>
              <a:buChar char="■"/>
              <a:defRPr sz="1700"/>
            </a:lvl9pPr>
          </a:lstStyle>
          <a:p>
            <a:endParaRPr/>
          </a:p>
        </p:txBody>
      </p:sp>
      <p:grpSp>
        <p:nvGrpSpPr>
          <p:cNvPr id="64" name="Google Shape;64;p24"/>
          <p:cNvGrpSpPr/>
          <p:nvPr/>
        </p:nvGrpSpPr>
        <p:grpSpPr>
          <a:xfrm>
            <a:off x="-9525" y="6217625"/>
            <a:ext cx="12242400" cy="657300"/>
            <a:chOff x="-9525" y="6217625"/>
            <a:chExt cx="12242400" cy="657300"/>
          </a:xfrm>
        </p:grpSpPr>
        <p:sp>
          <p:nvSpPr>
            <p:cNvPr id="65" name="Google Shape;65;p24"/>
            <p:cNvSpPr/>
            <p:nvPr/>
          </p:nvSpPr>
          <p:spPr>
            <a:xfrm>
              <a:off x="0" y="6217625"/>
              <a:ext cx="12192000" cy="657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66" name="Google Shape;66;p24" title="AA-logo-white-orange-arrow.png"/>
            <p:cNvPicPr preferRelativeResize="0"/>
            <p:nvPr/>
          </p:nvPicPr>
          <p:blipFill rotWithShape="1">
            <a:blip r:embed="rId2">
              <a:alphaModFix/>
            </a:blip>
            <a:srcRect r="10"/>
            <a:stretch/>
          </p:blipFill>
          <p:spPr>
            <a:xfrm>
              <a:off x="309800" y="6383000"/>
              <a:ext cx="2220401" cy="326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7" name="Google Shape;67;p24"/>
            <p:cNvCxnSpPr/>
            <p:nvPr/>
          </p:nvCxnSpPr>
          <p:spPr>
            <a:xfrm>
              <a:off x="-9525" y="6217625"/>
              <a:ext cx="1224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68" name="Google Shape;68;p24" title="Funded-by-Wellcome-Logo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20400" y="6328364"/>
              <a:ext cx="1179126" cy="435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33"/>
          <p:cNvGrpSpPr/>
          <p:nvPr/>
        </p:nvGrpSpPr>
        <p:grpSpPr>
          <a:xfrm>
            <a:off x="-9525" y="6217625"/>
            <a:ext cx="12242400" cy="657300"/>
            <a:chOff x="-9525" y="6217625"/>
            <a:chExt cx="12242400" cy="657300"/>
          </a:xfrm>
        </p:grpSpPr>
        <p:sp>
          <p:nvSpPr>
            <p:cNvPr id="167" name="Google Shape;167;p33"/>
            <p:cNvSpPr/>
            <p:nvPr/>
          </p:nvSpPr>
          <p:spPr>
            <a:xfrm>
              <a:off x="0" y="6217625"/>
              <a:ext cx="12192000" cy="657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68" name="Google Shape;168;p33" title="AA-logo-white-orange-arrow.png"/>
            <p:cNvPicPr preferRelativeResize="0"/>
            <p:nvPr/>
          </p:nvPicPr>
          <p:blipFill rotWithShape="1">
            <a:blip r:embed="rId2">
              <a:alphaModFix/>
            </a:blip>
            <a:srcRect r="10"/>
            <a:stretch/>
          </p:blipFill>
          <p:spPr>
            <a:xfrm>
              <a:off x="309800" y="6383000"/>
              <a:ext cx="2220401" cy="326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9" name="Google Shape;169;p33"/>
            <p:cNvCxnSpPr/>
            <p:nvPr/>
          </p:nvCxnSpPr>
          <p:spPr>
            <a:xfrm>
              <a:off x="-9525" y="6217625"/>
              <a:ext cx="1224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170" name="Google Shape;170;p33" title="Funded-by-Wellcome-Logo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20400" y="6328364"/>
              <a:ext cx="1179126" cy="435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 text and small image" type="titleOnly">
  <p:cSld name="TITLE_ONLY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4"/>
          <p:cNvSpPr txBox="1">
            <a:spLocks noGrp="1"/>
          </p:cNvSpPr>
          <p:nvPr>
            <p:ph type="body" idx="1"/>
          </p:nvPr>
        </p:nvSpPr>
        <p:spPr>
          <a:xfrm>
            <a:off x="415600" y="1627650"/>
            <a:ext cx="5675400" cy="4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74" name="Google Shape;174;p34"/>
          <p:cNvSpPr>
            <a:spLocks noGrp="1"/>
          </p:cNvSpPr>
          <p:nvPr>
            <p:ph type="pic" idx="2"/>
          </p:nvPr>
        </p:nvSpPr>
        <p:spPr>
          <a:xfrm>
            <a:off x="7555425" y="1569100"/>
            <a:ext cx="4266300" cy="4266300"/>
          </a:xfrm>
          <a:prstGeom prst="roundRect">
            <a:avLst>
              <a:gd name="adj" fmla="val 8238"/>
            </a:avLst>
          </a:prstGeom>
          <a:noFill/>
          <a:ln>
            <a:noFill/>
          </a:ln>
        </p:spPr>
      </p:sp>
      <p:grpSp>
        <p:nvGrpSpPr>
          <p:cNvPr id="175" name="Google Shape;175;p34"/>
          <p:cNvGrpSpPr/>
          <p:nvPr/>
        </p:nvGrpSpPr>
        <p:grpSpPr>
          <a:xfrm>
            <a:off x="-9525" y="6217625"/>
            <a:ext cx="12242400" cy="657300"/>
            <a:chOff x="-9525" y="6217625"/>
            <a:chExt cx="12242400" cy="657300"/>
          </a:xfrm>
        </p:grpSpPr>
        <p:sp>
          <p:nvSpPr>
            <p:cNvPr id="176" name="Google Shape;176;p34"/>
            <p:cNvSpPr/>
            <p:nvPr/>
          </p:nvSpPr>
          <p:spPr>
            <a:xfrm>
              <a:off x="0" y="6217625"/>
              <a:ext cx="12192000" cy="657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77" name="Google Shape;177;p34" title="AA-logo-white-orange-arrow.png"/>
            <p:cNvPicPr preferRelativeResize="0"/>
            <p:nvPr/>
          </p:nvPicPr>
          <p:blipFill rotWithShape="1">
            <a:blip r:embed="rId2">
              <a:alphaModFix/>
            </a:blip>
            <a:srcRect r="10"/>
            <a:stretch/>
          </p:blipFill>
          <p:spPr>
            <a:xfrm>
              <a:off x="309800" y="6383000"/>
              <a:ext cx="2220401" cy="326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8" name="Google Shape;178;p34"/>
            <p:cNvCxnSpPr/>
            <p:nvPr/>
          </p:nvCxnSpPr>
          <p:spPr>
            <a:xfrm>
              <a:off x="-9525" y="6217625"/>
              <a:ext cx="1224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179" name="Google Shape;179;p34" title="Funded-by-Wellcome-Logo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20400" y="6328364"/>
              <a:ext cx="1179126" cy="435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 text and large image 1">
  <p:cSld name="TITLE_ONLY_1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>
            <a:spLocks noGrp="1"/>
          </p:cNvSpPr>
          <p:nvPr>
            <p:ph type="title"/>
          </p:nvPr>
        </p:nvSpPr>
        <p:spPr>
          <a:xfrm>
            <a:off x="6204650" y="593375"/>
            <a:ext cx="55245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body" idx="1"/>
          </p:nvPr>
        </p:nvSpPr>
        <p:spPr>
          <a:xfrm>
            <a:off x="6204650" y="2210875"/>
            <a:ext cx="5724000" cy="3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83" name="Google Shape;183;p35"/>
          <p:cNvSpPr>
            <a:spLocks noGrp="1"/>
          </p:cNvSpPr>
          <p:nvPr>
            <p:ph type="pic" idx="2"/>
          </p:nvPr>
        </p:nvSpPr>
        <p:spPr>
          <a:xfrm>
            <a:off x="254125" y="310875"/>
            <a:ext cx="5524500" cy="5524500"/>
          </a:xfrm>
          <a:prstGeom prst="roundRect">
            <a:avLst>
              <a:gd name="adj" fmla="val 8238"/>
            </a:avLst>
          </a:prstGeom>
          <a:noFill/>
          <a:ln>
            <a:noFill/>
          </a:ln>
        </p:spPr>
      </p:sp>
      <p:grpSp>
        <p:nvGrpSpPr>
          <p:cNvPr id="184" name="Google Shape;184;p35"/>
          <p:cNvGrpSpPr/>
          <p:nvPr/>
        </p:nvGrpSpPr>
        <p:grpSpPr>
          <a:xfrm>
            <a:off x="-9525" y="6217625"/>
            <a:ext cx="12242400" cy="657300"/>
            <a:chOff x="-9525" y="6217625"/>
            <a:chExt cx="12242400" cy="657300"/>
          </a:xfrm>
        </p:grpSpPr>
        <p:sp>
          <p:nvSpPr>
            <p:cNvPr id="185" name="Google Shape;185;p35"/>
            <p:cNvSpPr/>
            <p:nvPr/>
          </p:nvSpPr>
          <p:spPr>
            <a:xfrm>
              <a:off x="0" y="6217625"/>
              <a:ext cx="12192000" cy="657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6" name="Google Shape;186;p35" title="AA-logo-white-orange-arrow.png"/>
            <p:cNvPicPr preferRelativeResize="0"/>
            <p:nvPr/>
          </p:nvPicPr>
          <p:blipFill rotWithShape="1">
            <a:blip r:embed="rId2">
              <a:alphaModFix/>
            </a:blip>
            <a:srcRect r="10"/>
            <a:stretch/>
          </p:blipFill>
          <p:spPr>
            <a:xfrm>
              <a:off x="309800" y="6383000"/>
              <a:ext cx="2220401" cy="326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7" name="Google Shape;187;p35"/>
            <p:cNvCxnSpPr/>
            <p:nvPr/>
          </p:nvCxnSpPr>
          <p:spPr>
            <a:xfrm>
              <a:off x="-9525" y="6217625"/>
              <a:ext cx="1224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188" name="Google Shape;188;p35" title="Funded-by-Wellcome-Logo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20400" y="6328364"/>
              <a:ext cx="1179126" cy="435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entral title" type="blank">
  <p:cSld name="BLANK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191" name="Google Shape;191;p36"/>
          <p:cNvGrpSpPr/>
          <p:nvPr/>
        </p:nvGrpSpPr>
        <p:grpSpPr>
          <a:xfrm>
            <a:off x="-9525" y="6217625"/>
            <a:ext cx="12242400" cy="657300"/>
            <a:chOff x="-9525" y="6217625"/>
            <a:chExt cx="12242400" cy="657300"/>
          </a:xfrm>
        </p:grpSpPr>
        <p:sp>
          <p:nvSpPr>
            <p:cNvPr id="192" name="Google Shape;192;p36"/>
            <p:cNvSpPr/>
            <p:nvPr/>
          </p:nvSpPr>
          <p:spPr>
            <a:xfrm>
              <a:off x="0" y="6217625"/>
              <a:ext cx="12192000" cy="657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93" name="Google Shape;193;p36" title="AA-logo-white-orange-arrow.png"/>
            <p:cNvPicPr preferRelativeResize="0"/>
            <p:nvPr/>
          </p:nvPicPr>
          <p:blipFill rotWithShape="1">
            <a:blip r:embed="rId2">
              <a:alphaModFix/>
            </a:blip>
            <a:srcRect r="10"/>
            <a:stretch/>
          </p:blipFill>
          <p:spPr>
            <a:xfrm>
              <a:off x="309800" y="6383000"/>
              <a:ext cx="2220401" cy="326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4" name="Google Shape;194;p36"/>
            <p:cNvCxnSpPr/>
            <p:nvPr/>
          </p:nvCxnSpPr>
          <p:spPr>
            <a:xfrm>
              <a:off x="-9525" y="6217625"/>
              <a:ext cx="12242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195" name="Google Shape;195;p36" title="Funded-by-Wellcome-Logo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20400" y="6328364"/>
              <a:ext cx="1179126" cy="435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sz="4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pen Sans"/>
              <a:buChar char="●"/>
              <a:defRPr sz="2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92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92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92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pen Sans"/>
              <a:buChar char="●"/>
              <a:defRPr sz="19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92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92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92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pen Sans"/>
              <a:buChar char="●"/>
              <a:defRPr sz="19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92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9250" algn="l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900"/>
              <a:buFont typeface="Open Sans"/>
              <a:buChar char="■"/>
              <a:defRPr sz="19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63" r:id="rId3"/>
    <p:sldLayoutId id="2147483664" r:id="rId4"/>
    <p:sldLayoutId id="2147483665" r:id="rId5"/>
    <p:sldLayoutId id="2147483666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lvl="0">
              <a:buSzPct val="111111"/>
            </a:pPr>
            <a:r>
              <a:rPr lang="en-US" dirty="0" smtClean="0"/>
              <a:t>2.3.7 </a:t>
            </a:r>
            <a:r>
              <a:rPr lang="en-US" dirty="0"/>
              <a:t>Health Facility Mapping — Testing Progress</a:t>
            </a:r>
            <a:endParaRPr dirty="0"/>
          </a:p>
        </p:txBody>
      </p:sp>
      <p:sp>
        <p:nvSpPr>
          <p:cNvPr id="253" name="Google Shape;253;p7"/>
          <p:cNvSpPr txBox="1">
            <a:spLocks noGrp="1"/>
          </p:cNvSpPr>
          <p:nvPr>
            <p:ph type="body" idx="1"/>
          </p:nvPr>
        </p:nvSpPr>
        <p:spPr>
          <a:xfrm>
            <a:off x="264674" y="1627632"/>
            <a:ext cx="3916703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 dirty="0" smtClean="0"/>
              <a:t>What’s working well</a:t>
            </a:r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 smtClean="0"/>
              <a:t>Developer documentation is complete and well </a:t>
            </a:r>
            <a:r>
              <a:rPr lang="en-US" dirty="0" err="1" smtClean="0"/>
              <a:t>organised</a:t>
            </a:r>
            <a:endParaRPr dirty="0"/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 smtClean="0"/>
              <a:t>Code access resolved and confirmed</a:t>
            </a:r>
            <a:endParaRPr dirty="0"/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 smtClean="0"/>
              <a:t>Good communication with the development team when issues arise</a:t>
            </a:r>
            <a:endParaRPr dirty="0"/>
          </a:p>
        </p:txBody>
      </p:sp>
      <p:sp>
        <p:nvSpPr>
          <p:cNvPr id="254" name="Google Shape;254;p7"/>
          <p:cNvSpPr txBox="1">
            <a:spLocks noGrp="1"/>
          </p:cNvSpPr>
          <p:nvPr>
            <p:ph type="body" idx="2"/>
          </p:nvPr>
        </p:nvSpPr>
        <p:spPr>
          <a:xfrm>
            <a:off x="8218737" y="1627632"/>
            <a:ext cx="3822337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 dirty="0" smtClean="0"/>
              <a:t>Looking ahead</a:t>
            </a:r>
            <a:endParaRPr b="1" dirty="0"/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 smtClean="0"/>
              <a:t>Confirming that both versions, have exactly the same functionality</a:t>
            </a:r>
            <a:endParaRPr dirty="0"/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 smtClean="0"/>
              <a:t>Evaluating the system with heavier data volumes (ideally using the Argentina case)</a:t>
            </a:r>
            <a:endParaRPr dirty="0"/>
          </a:p>
          <a:p>
            <a:pPr marL="45720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 smtClean="0"/>
              <a:t>Completing </a:t>
            </a:r>
            <a:r>
              <a:rPr lang="en-US" dirty="0" smtClean="0"/>
              <a:t>the final testing report</a:t>
            </a:r>
            <a:endParaRPr dirty="0"/>
          </a:p>
        </p:txBody>
      </p:sp>
      <p:sp>
        <p:nvSpPr>
          <p:cNvPr id="6" name="Google Shape;253;p7"/>
          <p:cNvSpPr txBox="1">
            <a:spLocks/>
          </p:cNvSpPr>
          <p:nvPr/>
        </p:nvSpPr>
        <p:spPr>
          <a:xfrm>
            <a:off x="4119065" y="1629106"/>
            <a:ext cx="3870835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pen Sans"/>
              <a:buChar char="●"/>
              <a:defRPr sz="2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65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Open Sans"/>
              <a:buChar char="○"/>
              <a:defRPr sz="17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65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Open Sans"/>
              <a:buChar char="■"/>
              <a:defRPr sz="17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65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Open Sans"/>
              <a:buChar char="●"/>
              <a:defRPr sz="17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65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Open Sans"/>
              <a:buChar char="○"/>
              <a:defRPr sz="17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65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Open Sans"/>
              <a:buChar char="■"/>
              <a:defRPr sz="17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65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Open Sans"/>
              <a:buChar char="●"/>
              <a:defRPr sz="17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65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Open Sans"/>
              <a:buChar char="○"/>
              <a:defRPr sz="17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6550" algn="l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700"/>
              <a:buFont typeface="Open Sans"/>
              <a:buChar char="■"/>
              <a:defRPr sz="17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01600" indent="0">
              <a:buNone/>
            </a:pPr>
            <a:r>
              <a:rPr lang="en-US" b="1" dirty="0" smtClean="0"/>
              <a:t>What has been challenging</a:t>
            </a:r>
          </a:p>
          <a:p>
            <a:r>
              <a:rPr lang="en-US" dirty="0" smtClean="0"/>
              <a:t>A full week without access to the code (12-19 August)</a:t>
            </a:r>
          </a:p>
          <a:p>
            <a:r>
              <a:rPr lang="en-US" dirty="0" smtClean="0"/>
              <a:t>No </a:t>
            </a:r>
            <a:r>
              <a:rPr lang="en-US" dirty="0" err="1" smtClean="0"/>
              <a:t>ToR</a:t>
            </a:r>
            <a:r>
              <a:rPr lang="en-US" dirty="0" smtClean="0"/>
              <a:t> document was found for the unit</a:t>
            </a:r>
          </a:p>
          <a:p>
            <a:r>
              <a:rPr lang="en-US" dirty="0" smtClean="0"/>
              <a:t>Setting up the technical environments for both languages (versions, libraries, dependencies)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ysis for Action">
  <a:themeElements>
    <a:clrScheme name="Simple Light">
      <a:dk1>
        <a:srgbClr val="3F4A37"/>
      </a:dk1>
      <a:lt1>
        <a:srgbClr val="4E5A46"/>
      </a:lt1>
      <a:dk2>
        <a:srgbClr val="1E2A15"/>
      </a:dk2>
      <a:lt2>
        <a:srgbClr val="FFFFFF"/>
      </a:lt2>
      <a:accent1>
        <a:srgbClr val="F59342"/>
      </a:accent1>
      <a:accent2>
        <a:srgbClr val="5A7C4A"/>
      </a:accent2>
      <a:accent3>
        <a:srgbClr val="8EAF7F"/>
      </a:accent3>
      <a:accent4>
        <a:srgbClr val="D4DDD6"/>
      </a:accent4>
      <a:accent5>
        <a:srgbClr val="F0E6D8"/>
      </a:accent5>
      <a:accent6>
        <a:srgbClr val="F8F5F1"/>
      </a:accent6>
      <a:hlink>
        <a:srgbClr val="28A19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102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Open Sans</vt:lpstr>
      <vt:lpstr>Open Sans SemiBold</vt:lpstr>
      <vt:lpstr>Arial</vt:lpstr>
      <vt:lpstr>Analysis for Action</vt:lpstr>
      <vt:lpstr>2.3.7 Health Facility Mapping — Testing Progress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[Presentation name]</dc:title>
  <dc:creator>Maisa Havela</dc:creator>
  <cp:lastModifiedBy>Cristian Paez</cp:lastModifiedBy>
  <cp:revision>7</cp:revision>
  <dcterms:modified xsi:type="dcterms:W3CDTF">2026-08-24T14:47:42Z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0x0101003847331572CFEF48820A294693773BAE</vt:lpwstr>
  </property>
</Properties>
</file>